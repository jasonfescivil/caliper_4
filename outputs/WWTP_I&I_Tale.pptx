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WWTP I&amp;I Story — Daily Readings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Period: 2015-04-01 to 2025-06-30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 a 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Dry-weather baseline ≈ 0.080 MGD</a:t>
            </a:r>
          </a:p>
          <a:p>
            <a:pPr/>
            <a:r>
              <a:t>Regression (Flow = a + b·P0 + c·P1 + d·P2): R² ≈ 0.14</a:t>
            </a:r>
          </a:p>
          <a:p>
            <a:pPr/>
            <a:r>
              <a:t>Overall I&amp;I volume ≈ 226.6 MG (42.5% of total flow)</a:t>
            </a:r>
          </a:p>
          <a:p>
            <a:pPr/>
            <a:r>
              <a:t>Multiple wet-weather responses identified with distinct recession to baseline.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Flows &amp; Rainfall</a:t>
            </a:r>
          </a:p>
        </p:txBody>
      </p:sp>
      <p:pic>
        <p:nvPicPr>
          <p:cNvPr id="3" name="Picture 2" descr="timeseries_flow_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023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Excess Flow vs Rain (0–2 day sum)</a:t>
            </a:r>
          </a:p>
        </p:txBody>
      </p:sp>
      <p:pic>
        <p:nvPicPr>
          <p:cNvPr id="3" name="Picture 2" descr="reg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3392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Lags Say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P0 (same-day) coefficient ≈ 0.209 MGD/in</a:t>
            </a:r>
          </a:p>
          <a:p>
            <a:pPr/>
            <a:r>
              <a:t>P1 (1-day lag) coefficient ≈ 0.124 MGD/in</a:t>
            </a:r>
          </a:p>
          <a:p>
            <a:pPr/>
            <a:r>
              <a:t>P2 (2-day lag) coefficient ≈ 0.116 MGD/in</a:t>
            </a:r>
          </a:p>
          <a:p>
            <a:pPr/>
            <a:r>
              <a:t>Interpretation: positive same-day signal suggests inflow; positive lagged terms indicate infiltration.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RDI/I Volume by Event</a:t>
            </a:r>
          </a:p>
        </p:txBody>
      </p:sp>
      <p:pic>
        <p:nvPicPr>
          <p:cNvPr id="3" name="Picture 2" descr="events_rd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2451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I&amp;I Fraction (%)</a:t>
            </a:r>
          </a:p>
        </p:txBody>
      </p:sp>
      <p:pic>
        <p:nvPicPr>
          <p:cNvPr id="3" name="Picture 2" descr="monthly_ii_p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01192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Dry-Day Flow Distribution</a:t>
            </a:r>
          </a:p>
        </p:txBody>
      </p:sp>
      <p:pic>
        <p:nvPicPr>
          <p:cNvPr id="3" name="Picture 2" descr="dry_flow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1628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Target sources: roof/yard drains, sump pumps (inflow) near quick spikes; leaky sewers/manholes (infiltration) where lag is strong.</a:t>
            </a:r>
          </a:p>
          <a:p>
            <a:pPr/>
            <a:r>
              <a:t>Plan SSES: smoke testing during dry weather; CCTV and nighttime flow isolation in basins with highest event volumes.</a:t>
            </a:r>
          </a:p>
          <a:p>
            <a:pPr/>
            <a:r>
              <a:t>Correlate rainfall hyetographs with sub-basin meters to pinpoint fast-response areas.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